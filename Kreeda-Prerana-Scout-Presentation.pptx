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Kreeda-Prerana 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1C7293"/>
                </a:solidFill>
                <a:latin typeface="Calibri"/>
              </a:defRPr>
            </a:pPr>
            <a:r>
              <a:t>Grassroots Sports Talent Tracker for Rural Schools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3047695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VTU Internship Report-2  |  Android App Development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Kshitiz Kannojia  |  1ME22CS066  |  8th Semester CSE</a:t>
            </a:r>
          </a:p>
          <a:p>
            <a:pPr algn="ctr"/>
            <a:r>
              <a:rPr sz="1300" b="0">
                <a:solidFill>
                  <a:srgbClr val="99AABB"/>
                </a:solidFill>
                <a:latin typeface="Calibri"/>
              </a:rPr>
              <a:t>MS Engineering College, Bengaluru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8899AA"/>
                </a:solidFill>
                <a:latin typeface="Calibri"/>
              </a:rPr>
              <a:t>Guide: Ms. Harshitha S P  |  Coordinator: Mr. Thirumal, MindMatrix</a:t>
            </a:r>
          </a:p>
          <a:p>
            <a:pPr algn="ctr"/>
            <a:r>
              <a:rPr sz="1200" b="0">
                <a:solidFill>
                  <a:srgbClr val="8899AA"/>
                </a:solidFill>
                <a:latin typeface="Calibri"/>
              </a:rPr>
              <a:t>February 3 – April 28,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The Problem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4864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24B4A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228600" cy="2286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4884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Rural school athletes go unnoticed — no structured tracking system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834639"/>
            <a:ext cx="228600" cy="2286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PE teachers rely on memory or scattered paper records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474720"/>
            <a:ext cx="228600" cy="2286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42900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No way to compare performance over months or identify district-ready talent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114800"/>
            <a:ext cx="228600" cy="2286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06908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Existing tools require internet — unusable in remote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0292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029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D9488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19456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14884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Kreeda-Prerana Scout — offline-first Android app for PE teachers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278892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74320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High-precision stopwatch (2 decimal places) for timing events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3383279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33756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Batch entry for 30+ students at once per class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977639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93192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Automatic "District Level Ready" badges based on sport benchmarks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5720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52628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Talent Curve graphs showing improvement over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Athlete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Create/view student profiles with name, age, class, school, and sport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60" y="164592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642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Trial Logger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9202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Stopwatch timer accurate to 2 decimal places (MM:SS.HH format)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642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Batch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Record an entire class of 30+ students at once in a single 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749040"/>
            <a:ext cx="502920" cy="50292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673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657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Milestone Badges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233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Auto "District Level Ready" badge when performance crosses benchmarks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3749040"/>
            <a:ext cx="502920" cy="502920"/>
          </a:xfrm>
          <a:prstGeom prst="ellipse">
            <a:avLst/>
          </a:prstGeom>
          <a:solidFill>
            <a:srgbClr val="993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7673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57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Leaderboard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0233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Internal school rankings sorted by performance per sport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47472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58200" y="3749040"/>
            <a:ext cx="502920" cy="50292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7673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Talent Curve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0233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MPAndroidChart line graph showing performance improvement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Core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73152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508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Room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20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Offline-first local SQLite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Material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UI Components (Cards, FAB, Spinner)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83464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834640"/>
            <a:ext cx="73152" cy="10972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971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MPAndroidChart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83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Talent Curve line graph library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73152" cy="10972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34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SystemClock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46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High-precision stopwatch timing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297680"/>
            <a:ext cx="5303520" cy="109728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4297680"/>
            <a:ext cx="73152" cy="1097280"/>
          </a:xfrm>
          <a:prstGeom prst="rect">
            <a:avLst/>
          </a:prstGeom>
          <a:solidFill>
            <a:srgbClr val="993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434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RecyclerView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846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Efficient list rendering for batch &amp; leaderboard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App User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28600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Georgia"/>
              </a:defRPr>
            </a:pPr>
            <a:r>
              <a:t>Splash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2s branded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C72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7160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137160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508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1A2E"/>
                </a:solidFill>
                <a:latin typeface="Georgia"/>
              </a:defRPr>
            </a:pPr>
            <a:r>
              <a:t>Main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4 navigation cards + athlete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C729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C7293"/>
                </a:solidFill>
                <a:latin typeface="Georgia"/>
              </a:defRPr>
            </a:pPr>
            <a:r>
              <a:t>Athlete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Create, view, delete</a:t>
            </a:r>
            <a:br/>
            <a:r>
              <a:t>Dialog-based form</a:t>
            </a:r>
            <a:br/>
            <a:r>
              <a:t>10 sport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6F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9260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926080"/>
            <a:ext cx="265176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6F00"/>
                </a:solidFill>
                <a:latin typeface="Georgia"/>
              </a:defRPr>
            </a:pPr>
            <a:r>
              <a:t>Trial Logger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Stopwatch: 10ms refresh</a:t>
            </a:r>
            <a:br/>
            <a:r>
              <a:t>Manual entry mode</a:t>
            </a:r>
            <a:br/>
            <a:r>
              <a:t>Auto benchmark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688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9260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926080"/>
            <a:ext cx="2651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9488"/>
                </a:solidFill>
                <a:latin typeface="Georgia"/>
              </a:defRPr>
            </a:pPr>
            <a:r>
              <a:t>Batch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30+ students at once</a:t>
            </a:r>
            <a:br/>
            <a:r>
              <a:t>Inline EditText per row</a:t>
            </a:r>
            <a:br/>
            <a:r>
              <a:t>Bulk insertAll()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4688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534AB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29260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926080"/>
            <a:ext cx="2651760" cy="54864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534AB7"/>
                </a:solidFill>
                <a:latin typeface="Georgia"/>
              </a:defRPr>
            </a:pPr>
            <a:r>
              <a:t>Leaderboard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MIN for timed events</a:t>
            </a:r>
            <a:br/>
            <a:r>
              <a:t>MAX for distance</a:t>
            </a:r>
            <a:br/>
            <a:r>
              <a:t>Gold/silver/bronze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9377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C7293"/>
                </a:solidFill>
                <a:latin typeface="Calibri"/>
              </a:defRPr>
            </a:pPr>
            <a:r>
              <a:t>↓    All data flows to    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394960"/>
            <a:ext cx="3200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5394960"/>
            <a:ext cx="32004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5532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65A82"/>
                </a:solidFill>
                <a:latin typeface="Georgia"/>
              </a:defRPr>
            </a:pPr>
            <a:r>
              <a:rPr sz="1400"/>
              <a:t>Room 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852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Athlete + TrialRecord entities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394960"/>
            <a:ext cx="3200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5394960"/>
            <a:ext cx="3200400" cy="54864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532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534AB7"/>
                </a:solidFill>
                <a:latin typeface="Georgia"/>
              </a:defRPr>
            </a:pPr>
            <a:r>
              <a:t>Talent Curve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852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MPAndroidChart LineChart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Three-Tier Architecture —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5A82"/>
                </a:solidFill>
                <a:latin typeface="Georgia"/>
              </a:defRPr>
            </a:pPr>
            <a:r>
              <a:t>PRESENTATION LAYER (UI)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17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5A82"/>
                </a:solidFill>
                <a:latin typeface="Calibri"/>
              </a:defRPr>
            </a:pPr>
            <a:r>
              <a:t>XML Layouts + Material Design + RecyclerView + MPAndroidChart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MainActivity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AthleteActivity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TrialLogger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BatchEntry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Leaderboard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28800"/>
            <a:ext cx="15727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920240"/>
            <a:ext cx="148132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65A82"/>
                </a:solidFill>
                <a:latin typeface="Calibri"/>
              </a:defRPr>
            </a:pPr>
            <a:r>
              <a:t>TalentCurve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8346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9488"/>
                </a:solidFill>
                <a:latin typeface="Calibri"/>
              </a:defRPr>
            </a:pPr>
            <a:r>
              <a:t>↓ User events (tap, input)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34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534AB7"/>
                </a:solidFill>
                <a:latin typeface="Calibri"/>
              </a:defRPr>
            </a:pPr>
            <a:r>
              <a:t>↑ LiveData observe / UI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698480" cy="1371600"/>
          </a:xfrm>
          <a:prstGeom prst="round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10698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Georgia"/>
              </a:defRPr>
            </a:pPr>
            <a:r>
              <a:rPr sz="1400"/>
              <a:t>BUSINESS LOGIC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429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D9488"/>
                </a:solidFill>
                <a:latin typeface="Calibri"/>
              </a:defRPr>
            </a:pPr>
            <a:r>
              <a:t>Executors.newSingleThreadExecutor() + runOnUiThread()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7947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404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Timer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148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10ms refresh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7947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8404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BenchmarkUtils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Badge thresholds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947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404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Sort Algorithms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148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MIN / MAX rank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7947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8404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Batch Processor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1148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insertAll()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7548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9488"/>
                </a:solidFill>
                <a:latin typeface="Calibri"/>
              </a:defRPr>
            </a:pPr>
            <a:r>
              <a:t>↓ DAO method 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7548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534AB7"/>
                </a:solidFill>
                <a:latin typeface="Calibri"/>
              </a:defRPr>
            </a:pPr>
            <a:r>
              <a:t>↑ Query 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120640"/>
            <a:ext cx="10698480" cy="54864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257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534AB7"/>
                </a:solidFill>
                <a:latin typeface="Georgia"/>
              </a:defRPr>
            </a:pPr>
            <a:r>
              <a:t>DATA LAYER (Room Database)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34AB7"/>
                </a:solidFill>
                <a:latin typeface="Calibri"/>
              </a:defRPr>
            </a:pPr>
            <a:r>
              <a:t>AppDatabase singleton — kreeda_prerana_db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6235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AthleteDao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943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CRUD + LiveData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56235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TrialRecordDao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943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Insert + JOIN queries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6235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Athlete Entity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943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name, age, sport, badge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562356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TrialRecord Entity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943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A5A6A"/>
                </a:solidFill>
                <a:latin typeface="Calibri"/>
              </a:defRPr>
            </a:pPr>
            <a:r>
              <a:t>event, value, date, FK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Clean Architecture — Module-Level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1295C"/>
                </a:solidFill>
                <a:latin typeface="Consolas"/>
              </a:defRPr>
            </a:pPr>
            <a:r>
              <a:t>com.kreeda.preranascout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40"/>
            <a:ext cx="109728" cy="4114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KreedaApp.java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Application class, DB singleton init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109728" cy="4114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data/entity/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603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Athlete.java, TrialRecord.java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109728" cy="4114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data/dao/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004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AthleteDao.java, TrialRecordDao.java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40480"/>
            <a:ext cx="109728" cy="4114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data/database/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AppDatabase.java (singleton)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480560"/>
            <a:ext cx="109728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ui/main/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8056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MainActivity, SplashActivity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029199"/>
            <a:ext cx="109728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029199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ui/athlete/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029199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AddAthlete, AthleteDetail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577840"/>
            <a:ext cx="109728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5778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ui/trial/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5778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TrialLogger, BatchEntry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6126480"/>
            <a:ext cx="109728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612648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utils/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12648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BenchmarkUtils.java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280160"/>
            <a:ext cx="5029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280160"/>
            <a:ext cx="50292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4630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65A82"/>
                </a:solidFill>
                <a:latin typeface="Georgia"/>
              </a:defRPr>
            </a:pPr>
            <a:r>
              <a:t>Data Flow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8288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 User taps → Activity receives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1488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 Activity calls Executor (background thread)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468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 DAO method executes Room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7889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 Result posted back via runOnUiThread()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1089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 LiveData observers update RecyclerView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49039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749039"/>
            <a:ext cx="5029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9488"/>
                </a:solidFill>
                <a:latin typeface="Georgia"/>
              </a:defRPr>
            </a:pPr>
            <a:r>
              <a:t>Key Design Decisions</a:t>
            </a:r>
          </a:p>
        </p:txBody>
      </p:sp>
      <p:sp>
        <p:nvSpPr>
          <p:cNvPr id="40" name="Oval 39"/>
          <p:cNvSpPr/>
          <p:nvPr/>
        </p:nvSpPr>
        <p:spPr>
          <a:xfrm>
            <a:off x="6675120" y="429768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26110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Room DB singleton — double-checked locking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466344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462686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@ForeignKey CASCADE — auto-delete trials</a:t>
            </a:r>
          </a:p>
        </p:txBody>
      </p:sp>
      <p:sp>
        <p:nvSpPr>
          <p:cNvPr id="44" name="Oval 43"/>
          <p:cNvSpPr/>
          <p:nvPr/>
        </p:nvSpPr>
        <p:spPr>
          <a:xfrm>
            <a:off x="6675120" y="502920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499262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BenchmarkUtils — centralized threshold logic</a:t>
            </a:r>
          </a:p>
        </p:txBody>
      </p:sp>
      <p:sp>
        <p:nvSpPr>
          <p:cNvPr id="46" name="Oval 45"/>
          <p:cNvSpPr/>
          <p:nvPr/>
        </p:nvSpPr>
        <p:spPr>
          <a:xfrm>
            <a:off x="6675120" y="539496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60" y="535838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SystemClock.elapsedRealtime() — monotonic</a:t>
            </a:r>
          </a:p>
        </p:txBody>
      </p:sp>
      <p:sp>
        <p:nvSpPr>
          <p:cNvPr id="48" name="Oval 47"/>
          <p:cNvSpPr/>
          <p:nvPr/>
        </p:nvSpPr>
        <p:spPr>
          <a:xfrm>
            <a:off x="6675120" y="576072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572414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Executors — no UI thread blocking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District Level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C7293"/>
                </a:solidFill>
                <a:latin typeface="Calibri"/>
              </a:defRPr>
            </a:pPr>
            <a:r>
              <a:t>13 predefined sport benchmarks — automatic badge when crossed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Georgia"/>
              </a:defRPr>
            </a:pPr>
            <a:r>
              <a:t>Timed Events (lower is better)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50m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7.5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100m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974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14.0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200m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832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28.0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400m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6907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62.0 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800m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5487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150.0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492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1500m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40679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&lt; 320.0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B300"/>
                </a:solidFill>
                <a:latin typeface="Georgia"/>
              </a:defRPr>
            </a:pPr>
            <a:r>
              <a:t>Distance Events (higher is better)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9202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011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Long Jump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0116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4.5 meters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51460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06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High Jump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60604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1.4 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10896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200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Shot 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20040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8.0 meters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70332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79475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Discus Throw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9475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25.0 meters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9768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389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Javelin Throw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3891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30.0 meters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89204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Kabaddi Raid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9834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15 points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486400"/>
            <a:ext cx="5029200" cy="594360"/>
          </a:xfrm>
          <a:prstGeom prst="roundRect">
            <a:avLst/>
          </a:prstGeom>
          <a:solidFill>
            <a:srgbClr val="2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577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Kabaddi Tackle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57784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FFB300"/>
                </a:solidFill>
                <a:latin typeface="Calibri"/>
              </a:defRPr>
            </a:pPr>
            <a:r>
              <a:t>&gt; 12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Results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65A82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decimal</a:t>
            </a:r>
            <a:br/>
            <a:r>
              <a:t>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7160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50876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1C7293"/>
                </a:solidFill>
                <a:latin typeface="Georgia"/>
              </a:defRPr>
            </a:pPr>
            <a:r>
              <a:t>30+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194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students</a:t>
            </a:r>
            <a:br/>
            <a:r>
              <a:t>batch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0876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6F00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sport</a:t>
            </a:r>
            <a:br/>
            <a:r>
              <a:t>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37160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50876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D9488"/>
                </a:solidFill>
                <a:latin typeface="Georgia"/>
              </a:defRPr>
            </a:pPr>
            <a:r>
              <a:t>&lt; 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94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DB query</a:t>
            </a:r>
            <a:br/>
            <a:r>
              <a:t>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37160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50876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534AB7"/>
                </a:solidFill>
                <a:latin typeface="Georgia"/>
              </a:defRPr>
            </a:pPr>
            <a:r>
              <a:t>~95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19456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memory</a:t>
            </a:r>
            <a:br/>
            <a:r>
              <a:t>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95C"/>
                </a:solidFill>
                <a:latin typeface="Georgia"/>
              </a:defRPr>
            </a:pPr>
            <a:r>
              <a:t>Feature Verification — All Passed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840480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94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94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4 nav cards + live count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24528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17880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Athlete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7880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CRUD, 10 sports, dialog form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608576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56285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Trial Logger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62856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2-decimal stopwatch, dual mode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992624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9469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Batch 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46904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30+ students, bulk insert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376672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33095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Milestone Badges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30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Auto badge on benchmark cross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5760720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Leaderboard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15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MIN/MAX ranking, gold/silver/bronze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" y="6144768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609904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Talent Curve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0990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Cubic Bezier, limit line, %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95C"/>
                </a:solidFill>
                <a:latin typeface="Georgia"/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727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Cloud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Firebase sync across multiple schools for district-level aggregation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73152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5544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727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4630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PDF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288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Export athlete performance reports for district sports committees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10896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2724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175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Multi-language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3832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Hindi, Kannada, Tamil support for rural teachers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834640"/>
            <a:ext cx="73152" cy="1188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310896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12724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175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Khelo 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832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Direct API integration for automatic talent nomination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389120"/>
            <a:ext cx="73152" cy="11887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663440"/>
            <a:ext cx="457200" cy="4572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681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5720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AI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9377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ML-based talent prediction from historical performance trends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389120"/>
            <a:ext cx="73152" cy="1188720"/>
          </a:xfrm>
          <a:prstGeom prst="rect">
            <a:avLst/>
          </a:prstGeom>
          <a:solidFill>
            <a:srgbClr val="993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4663440"/>
            <a:ext cx="457200" cy="457200"/>
          </a:xfrm>
          <a:prstGeom prst="ellipse">
            <a:avLst/>
          </a:prstGeom>
          <a:solidFill>
            <a:srgbClr val="993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681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5720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1A2E"/>
                </a:solidFill>
                <a:latin typeface="Georgia"/>
              </a:defRPr>
            </a:pPr>
            <a:r>
              <a:t>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9377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SMS/WhatsApp alerts when students earn District badges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7293"/>
                </a:solidFill>
                <a:latin typeface="Georgia"/>
              </a:rPr>
              <a:t>Kreeda-Prerana Scout</a:t>
            </a:r>
          </a:p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Grassroots Sports Talent Tracker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Kshitiz Kannojia  |  1ME22CS066</a:t>
            </a:r>
          </a:p>
          <a:p>
            <a:pPr algn="ctr"/>
            <a:r>
              <a:rPr sz="1300" b="0">
                <a:solidFill>
                  <a:srgbClr val="99AABB"/>
                </a:solidFill>
                <a:latin typeface="Calibri"/>
              </a:rPr>
              <a:t>MS Engineering College  |  8th Semester CSE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1">
                <a:solidFill>
                  <a:srgbClr val="FFB300"/>
                </a:solidFill>
                <a:latin typeface="Georgia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